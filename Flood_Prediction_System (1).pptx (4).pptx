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mbria Bold" charset="1" panose="02040803050406030204"/>
      <p:regular r:id="rId14"/>
    </p:embeddedFont>
    <p:embeddedFont>
      <p:font typeface="Calibri (MS) Bold Italics" charset="1" panose="020F07020304040A0204"/>
      <p:regular r:id="rId15"/>
    </p:embeddedFont>
    <p:embeddedFont>
      <p:font typeface="Calibri (MS) Bold" charset="1" panose="020F07020304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1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64640" y="6035040"/>
            <a:ext cx="6720840" cy="6720840"/>
            <a:chOff x="0" y="0"/>
            <a:chExt cx="8961120" cy="896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61120" cy="8961120"/>
            </a:xfrm>
            <a:custGeom>
              <a:avLst/>
              <a:gdLst/>
              <a:ahLst/>
              <a:cxnLst/>
              <a:rect r="r" b="b" t="t" l="l"/>
              <a:pathLst>
                <a:path h="8961120" w="8961120">
                  <a:moveTo>
                    <a:pt x="0" y="4480560"/>
                  </a:moveTo>
                  <a:cubicBezTo>
                    <a:pt x="0" y="2005965"/>
                    <a:pt x="2005965" y="0"/>
                    <a:pt x="4480560" y="0"/>
                  </a:cubicBezTo>
                  <a:cubicBezTo>
                    <a:pt x="6955155" y="0"/>
                    <a:pt x="8961120" y="2005965"/>
                    <a:pt x="8961120" y="4480560"/>
                  </a:cubicBezTo>
                  <a:cubicBezTo>
                    <a:pt x="8961120" y="6955155"/>
                    <a:pt x="6955155" y="8961120"/>
                    <a:pt x="4480560" y="8961120"/>
                  </a:cubicBezTo>
                  <a:cubicBezTo>
                    <a:pt x="2005964" y="8961120"/>
                    <a:pt x="0" y="6955155"/>
                    <a:pt x="0" y="4480560"/>
                  </a:cubicBezTo>
                  <a:close/>
                </a:path>
              </a:pathLst>
            </a:custGeom>
            <a:solidFill>
              <a:srgbClr val="1C2A4A">
                <a:alpha val="5607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361920" y="7132320"/>
            <a:ext cx="4526280" cy="4526280"/>
            <a:chOff x="0" y="0"/>
            <a:chExt cx="6035040" cy="6035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040" cy="6035040"/>
            </a:xfrm>
            <a:custGeom>
              <a:avLst/>
              <a:gdLst/>
              <a:ahLst/>
              <a:cxnLst/>
              <a:rect r="r" b="b" t="t" l="l"/>
              <a:pathLst>
                <a:path h="6035040" w="6035040">
                  <a:moveTo>
                    <a:pt x="0" y="3017520"/>
                  </a:moveTo>
                  <a:cubicBezTo>
                    <a:pt x="0" y="1351026"/>
                    <a:pt x="1351026" y="0"/>
                    <a:pt x="3017520" y="0"/>
                  </a:cubicBezTo>
                  <a:cubicBezTo>
                    <a:pt x="4684014" y="0"/>
                    <a:pt x="6035040" y="1351026"/>
                    <a:pt x="6035040" y="3017520"/>
                  </a:cubicBezTo>
                  <a:cubicBezTo>
                    <a:pt x="6035040" y="4684014"/>
                    <a:pt x="4684014" y="6035040"/>
                    <a:pt x="3017520" y="6035040"/>
                  </a:cubicBezTo>
                  <a:cubicBezTo>
                    <a:pt x="1351026" y="6035040"/>
                    <a:pt x="0" y="4684014"/>
                    <a:pt x="0" y="3017520"/>
                  </a:cubicBezTo>
                  <a:close/>
                </a:path>
              </a:pathLst>
            </a:custGeom>
            <a:solidFill>
              <a:srgbClr val="0F4C63">
                <a:alpha val="8078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0" y="8229600"/>
            <a:ext cx="2468880" cy="2468880"/>
            <a:chOff x="0" y="0"/>
            <a:chExt cx="3291840" cy="3291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1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291840">
                  <a:moveTo>
                    <a:pt x="0" y="1645920"/>
                  </a:moveTo>
                  <a:cubicBezTo>
                    <a:pt x="0" y="736854"/>
                    <a:pt x="736854" y="0"/>
                    <a:pt x="1645920" y="0"/>
                  </a:cubicBezTo>
                  <a:cubicBezTo>
                    <a:pt x="2554986" y="0"/>
                    <a:pt x="3291840" y="736854"/>
                    <a:pt x="3291840" y="1645920"/>
                  </a:cubicBezTo>
                  <a:cubicBezTo>
                    <a:pt x="3291840" y="2554986"/>
                    <a:pt x="2554986" y="3291840"/>
                    <a:pt x="1645920" y="3291840"/>
                  </a:cubicBezTo>
                  <a:cubicBezTo>
                    <a:pt x="736854" y="3291840"/>
                    <a:pt x="0" y="2554986"/>
                    <a:pt x="0" y="1645920"/>
                  </a:cubicBezTo>
                  <a:close/>
                </a:path>
              </a:pathLst>
            </a:custGeom>
            <a:solidFill>
              <a:srgbClr val="4FD8EE">
                <a:alpha val="4862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45770" y="445770"/>
            <a:ext cx="1165860" cy="1165860"/>
            <a:chOff x="0" y="0"/>
            <a:chExt cx="155448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4FD8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85673" y="585673"/>
            <a:ext cx="886054" cy="886054"/>
            <a:chOff x="0" y="0"/>
            <a:chExt cx="1181405" cy="1181405"/>
          </a:xfrm>
        </p:grpSpPr>
        <p:sp>
          <p:nvSpPr>
            <p:cNvPr name="Freeform 11" id="11" descr="/home/claude/flood_ppt/icons/water.png"/>
            <p:cNvSpPr/>
            <p:nvPr/>
          </p:nvSpPr>
          <p:spPr>
            <a:xfrm flipH="false" flipV="false" rot="0">
              <a:off x="0" y="0"/>
              <a:ext cx="1181354" cy="1181354"/>
            </a:xfrm>
            <a:custGeom>
              <a:avLst/>
              <a:gdLst/>
              <a:ahLst/>
              <a:cxnLst/>
              <a:rect r="r" b="b" t="t" l="l"/>
              <a:pathLst>
                <a:path h="1181354" w="1181354">
                  <a:moveTo>
                    <a:pt x="0" y="0"/>
                  </a:moveTo>
                  <a:lnTo>
                    <a:pt x="1181354" y="0"/>
                  </a:lnTo>
                  <a:lnTo>
                    <a:pt x="1181354" y="1181354"/>
                  </a:lnTo>
                  <a:lnTo>
                    <a:pt x="0" y="1181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71756" y="-728791"/>
            <a:ext cx="17744487" cy="8055822"/>
            <a:chOff x="0" y="0"/>
            <a:chExt cx="21945600" cy="99630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9963085"/>
            </a:xfrm>
            <a:custGeom>
              <a:avLst/>
              <a:gdLst/>
              <a:ahLst/>
              <a:cxnLst/>
              <a:rect r="r" b="b" t="t" l="l"/>
              <a:pathLst>
                <a:path h="996308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963085"/>
                  </a:lnTo>
                  <a:lnTo>
                    <a:pt x="0" y="99630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88" r="0" b="4514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1945600" cy="9972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919"/>
                </a:lnSpc>
              </a:pPr>
              <a:r>
                <a:rPr lang="en-US" sz="90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Machine Learning-Based </a:t>
              </a:r>
              <a:r>
                <a:rPr lang="en-US" sz="90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Flood Prediction System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45770" y="5012091"/>
            <a:ext cx="15087600" cy="1022949"/>
            <a:chOff x="0" y="0"/>
            <a:chExt cx="20116800" cy="13639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16800" cy="1363932"/>
            </a:xfrm>
            <a:custGeom>
              <a:avLst/>
              <a:gdLst/>
              <a:ahLst/>
              <a:cxnLst/>
              <a:rect r="r" b="b" t="t" l="l"/>
              <a:pathLst>
                <a:path h="1363932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63932"/>
                  </a:lnTo>
                  <a:lnTo>
                    <a:pt x="0" y="13639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3810" r="0" b="-23096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20116800" cy="1478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19"/>
                </a:lnSpc>
              </a:pPr>
              <a:r>
                <a:rPr lang="en-US" b="true" sz="5099" i="true">
                  <a:solidFill>
                    <a:srgbClr val="4FD8EE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Using Historical Threat Mapping and Live Weather APIs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936909" y="8446769"/>
            <a:ext cx="12322391" cy="1461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sz="39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Amit Bishnoi (1024240005)</a:t>
            </a:r>
          </a:p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Diksha Garg (1024240015)  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007840" y="9765792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4FD8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34958" y="1654035"/>
            <a:ext cx="12344400" cy="748665"/>
            <a:chOff x="0" y="0"/>
            <a:chExt cx="16459200" cy="9982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998220"/>
            </a:xfrm>
            <a:custGeom>
              <a:avLst/>
              <a:gdLst/>
              <a:ahLst/>
              <a:cxnLst/>
              <a:rect r="r" b="b" t="t" l="l"/>
              <a:pathLst>
                <a:path h="9982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998220"/>
                  </a:lnTo>
                  <a:lnTo>
                    <a:pt x="0" y="9982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638" r="0" b="-2579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6459200" cy="1083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b="true" sz="3599" i="true">
                  <a:solidFill>
                    <a:srgbClr val="FFC857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Why today's flood-risk tools fall short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07840" y="9765792"/>
            <a:ext cx="685800" cy="411480"/>
            <a:chOff x="0" y="0"/>
            <a:chExt cx="914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4FD8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694678" y="2816499"/>
            <a:ext cx="7998962" cy="3874727"/>
          </a:xfrm>
          <a:custGeom>
            <a:avLst/>
            <a:gdLst/>
            <a:ahLst/>
            <a:cxnLst/>
            <a:rect r="r" b="b" t="t" l="l"/>
            <a:pathLst>
              <a:path h="3874727" w="7998962">
                <a:moveTo>
                  <a:pt x="0" y="0"/>
                </a:moveTo>
                <a:lnTo>
                  <a:pt x="7998962" y="0"/>
                </a:lnTo>
                <a:lnTo>
                  <a:pt x="7998962" y="3874727"/>
                </a:lnTo>
                <a:lnTo>
                  <a:pt x="0" y="3874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688" r="0" b="-1868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59777" y="2816499"/>
            <a:ext cx="7998962" cy="3874727"/>
          </a:xfrm>
          <a:custGeom>
            <a:avLst/>
            <a:gdLst/>
            <a:ahLst/>
            <a:cxnLst/>
            <a:rect r="r" b="b" t="t" l="l"/>
            <a:pathLst>
              <a:path h="3874727" w="7998962">
                <a:moveTo>
                  <a:pt x="0" y="0"/>
                </a:moveTo>
                <a:lnTo>
                  <a:pt x="7998963" y="0"/>
                </a:lnTo>
                <a:lnTo>
                  <a:pt x="7998963" y="3874727"/>
                </a:lnTo>
                <a:lnTo>
                  <a:pt x="0" y="38747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688" r="0" b="-1868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67221" y="3042735"/>
            <a:ext cx="589088" cy="504933"/>
          </a:xfrm>
          <a:custGeom>
            <a:avLst/>
            <a:gdLst/>
            <a:ahLst/>
            <a:cxnLst/>
            <a:rect r="r" b="b" t="t" l="l"/>
            <a:pathLst>
              <a:path h="504933" w="589088">
                <a:moveTo>
                  <a:pt x="0" y="0"/>
                </a:moveTo>
                <a:lnTo>
                  <a:pt x="589088" y="0"/>
                </a:lnTo>
                <a:lnTo>
                  <a:pt x="589088" y="504932"/>
                </a:lnTo>
                <a:lnTo>
                  <a:pt x="0" y="5049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63237" y="3045116"/>
            <a:ext cx="730926" cy="584741"/>
          </a:xfrm>
          <a:custGeom>
            <a:avLst/>
            <a:gdLst/>
            <a:ahLst/>
            <a:cxnLst/>
            <a:rect r="r" b="b" t="t" l="l"/>
            <a:pathLst>
              <a:path h="584741" w="730926">
                <a:moveTo>
                  <a:pt x="0" y="0"/>
                </a:moveTo>
                <a:lnTo>
                  <a:pt x="730926" y="0"/>
                </a:lnTo>
                <a:lnTo>
                  <a:pt x="730926" y="584741"/>
                </a:lnTo>
                <a:lnTo>
                  <a:pt x="0" y="5847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88620" y="7100801"/>
            <a:ext cx="13190738" cy="2664991"/>
          </a:xfrm>
          <a:custGeom>
            <a:avLst/>
            <a:gdLst/>
            <a:ahLst/>
            <a:cxnLst/>
            <a:rect r="r" b="b" t="t" l="l"/>
            <a:pathLst>
              <a:path h="2664991" w="13190738">
                <a:moveTo>
                  <a:pt x="0" y="0"/>
                </a:moveTo>
                <a:lnTo>
                  <a:pt x="13190738" y="0"/>
                </a:lnTo>
                <a:lnTo>
                  <a:pt x="13190738" y="2664991"/>
                </a:lnTo>
                <a:lnTo>
                  <a:pt x="0" y="2664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4687" r="0" b="-11468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336682" y="7224626"/>
            <a:ext cx="607051" cy="632344"/>
          </a:xfrm>
          <a:custGeom>
            <a:avLst/>
            <a:gdLst/>
            <a:ahLst/>
            <a:cxnLst/>
            <a:rect r="r" b="b" t="t" l="l"/>
            <a:pathLst>
              <a:path h="632344" w="607051">
                <a:moveTo>
                  <a:pt x="0" y="0"/>
                </a:moveTo>
                <a:lnTo>
                  <a:pt x="607050" y="0"/>
                </a:lnTo>
                <a:lnTo>
                  <a:pt x="607050" y="632344"/>
                </a:lnTo>
                <a:lnTo>
                  <a:pt x="0" y="6323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7260" y="30314"/>
            <a:ext cx="16322040" cy="199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15"/>
              </a:lnSpc>
              <a:spcBef>
                <a:spcPct val="0"/>
              </a:spcBef>
            </a:pPr>
            <a:r>
              <a:rPr lang="en-US" b="true" sz="10769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832829" y="-814845"/>
            <a:ext cx="2468880" cy="2468880"/>
            <a:chOff x="0" y="0"/>
            <a:chExt cx="3291840" cy="3291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91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291840">
                  <a:moveTo>
                    <a:pt x="0" y="1645920"/>
                  </a:moveTo>
                  <a:cubicBezTo>
                    <a:pt x="0" y="736854"/>
                    <a:pt x="736854" y="0"/>
                    <a:pt x="1645920" y="0"/>
                  </a:cubicBezTo>
                  <a:cubicBezTo>
                    <a:pt x="2554986" y="0"/>
                    <a:pt x="3291840" y="736854"/>
                    <a:pt x="3291840" y="1645920"/>
                  </a:cubicBezTo>
                  <a:cubicBezTo>
                    <a:pt x="3291840" y="2554986"/>
                    <a:pt x="2554986" y="3291840"/>
                    <a:pt x="1645920" y="3291840"/>
                  </a:cubicBezTo>
                  <a:cubicBezTo>
                    <a:pt x="736854" y="3291840"/>
                    <a:pt x="0" y="2554986"/>
                    <a:pt x="0" y="1645920"/>
                  </a:cubicBezTo>
                  <a:close/>
                </a:path>
              </a:pathLst>
            </a:custGeom>
            <a:solidFill>
              <a:srgbClr val="4FD8EE">
                <a:alpha val="48627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36051" y="2871285"/>
            <a:ext cx="6449814" cy="86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7"/>
              </a:lnSpc>
              <a:spcBef>
                <a:spcPct val="0"/>
              </a:spcBef>
            </a:pPr>
            <a:r>
              <a:rPr lang="en-US" b="true" sz="4599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Limit </a:t>
            </a:r>
            <a:r>
              <a:rPr lang="en-US" b="true" sz="4599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 Weather Apps​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94434" y="2871285"/>
            <a:ext cx="5468243" cy="86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7"/>
              </a:lnSpc>
              <a:spcBef>
                <a:spcPct val="0"/>
              </a:spcBef>
            </a:pPr>
            <a:r>
              <a:rPr lang="en-US" b="true" sz="4599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</a:t>
            </a:r>
            <a:r>
              <a:rPr lang="en-US" b="true" sz="4599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atic Risk Assessment​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3237" y="4134682"/>
            <a:ext cx="7753314" cy="226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5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Right n</a:t>
            </a: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ow, weather apps show us live data like rain and wind, but they do not tell us if that rain will actually cause a flood in a specific area.​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17502" y="4146589"/>
            <a:ext cx="7753314" cy="2408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1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 t</a:t>
            </a: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 </a:t>
            </a: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other hand, traditional flood maps are usually drawn once and rarely updated. They cannot react to a sudden, heavy storm.​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35656" y="7053176"/>
            <a:ext cx="6395641" cy="86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7"/>
              </a:lnSpc>
              <a:spcBef>
                <a:spcPct val="0"/>
              </a:spcBef>
            </a:pPr>
            <a:r>
              <a:rPr lang="en-US" b="true" sz="4599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</a:t>
            </a:r>
            <a:r>
              <a:rPr lang="en-US" b="true" sz="4599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Historical Disconnect: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64026" y="7891012"/>
            <a:ext cx="12927584" cy="1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5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Live weather data and hist</a:t>
            </a: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orical disaster records live in separate silos. Current systems struggle to instantly connect a live storm with a location’s history of flooding.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284" y="1431683"/>
            <a:ext cx="16184880" cy="786765"/>
            <a:chOff x="0" y="0"/>
            <a:chExt cx="21579840" cy="1049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79839" cy="1049020"/>
            </a:xfrm>
            <a:custGeom>
              <a:avLst/>
              <a:gdLst/>
              <a:ahLst/>
              <a:cxnLst/>
              <a:rect r="r" b="b" t="t" l="l"/>
              <a:pathLst>
                <a:path h="10490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049020"/>
                  </a:lnTo>
                  <a:lnTo>
                    <a:pt x="0" y="10490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968" r="0" b="-3357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579840" cy="1125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b="true" sz="3199" i="true">
                  <a:solidFill>
                    <a:srgbClr val="FFC857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A single platform connecting live weather to historical flood memory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0724" y="2494673"/>
            <a:ext cx="1069848" cy="1069848"/>
            <a:chOff x="0" y="0"/>
            <a:chExt cx="1426464" cy="14264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713232"/>
                  </a:moveTo>
                  <a:cubicBezTo>
                    <a:pt x="0" y="319278"/>
                    <a:pt x="319278" y="0"/>
                    <a:pt x="713232" y="0"/>
                  </a:cubicBezTo>
                  <a:cubicBezTo>
                    <a:pt x="1107186" y="0"/>
                    <a:pt x="1426464" y="319278"/>
                    <a:pt x="1426464" y="713232"/>
                  </a:cubicBezTo>
                  <a:cubicBezTo>
                    <a:pt x="1426464" y="1107186"/>
                    <a:pt x="1107186" y="1426464"/>
                    <a:pt x="713232" y="1426464"/>
                  </a:cubicBezTo>
                  <a:cubicBezTo>
                    <a:pt x="319278" y="1426464"/>
                    <a:pt x="0" y="1107186"/>
                    <a:pt x="0" y="713232"/>
                  </a:cubicBezTo>
                  <a:close/>
                </a:path>
              </a:pathLst>
            </a:custGeom>
            <a:solidFill>
              <a:srgbClr val="4FD8E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79102" y="2623051"/>
            <a:ext cx="813083" cy="813083"/>
            <a:chOff x="0" y="0"/>
            <a:chExt cx="1084110" cy="1084110"/>
          </a:xfrm>
        </p:grpSpPr>
        <p:sp>
          <p:nvSpPr>
            <p:cNvPr name="Freeform 8" id="8" descr="/home/claude/flood_ppt/icons/globe.png"/>
            <p:cNvSpPr/>
            <p:nvPr/>
          </p:nvSpPr>
          <p:spPr>
            <a:xfrm flipH="false" flipV="false" rot="0">
              <a:off x="0" y="0"/>
              <a:ext cx="1084072" cy="1084072"/>
            </a:xfrm>
            <a:custGeom>
              <a:avLst/>
              <a:gdLst/>
              <a:ahLst/>
              <a:cxnLst/>
              <a:rect r="r" b="b" t="t" l="l"/>
              <a:pathLst>
                <a:path h="1084072" w="1084072">
                  <a:moveTo>
                    <a:pt x="0" y="0"/>
                  </a:moveTo>
                  <a:lnTo>
                    <a:pt x="1084072" y="0"/>
                  </a:lnTo>
                  <a:lnTo>
                    <a:pt x="1084072" y="1084072"/>
                  </a:lnTo>
                  <a:lnTo>
                    <a:pt x="0" y="1084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822324" y="936682"/>
            <a:ext cx="1303020" cy="4182634"/>
            <a:chOff x="0" y="0"/>
            <a:chExt cx="1737360" cy="55768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" cy="5576845"/>
            </a:xfrm>
            <a:custGeom>
              <a:avLst/>
              <a:gdLst/>
              <a:ahLst/>
              <a:cxnLst/>
              <a:rect r="r" b="b" t="t" l="l"/>
              <a:pathLst>
                <a:path h="5576845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5576845"/>
                  </a:lnTo>
                  <a:lnTo>
                    <a:pt x="0" y="55768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809" t="0" r="-91809" b="6556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737360" cy="558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699" b="true">
                  <a:solidFill>
                    <a:srgbClr val="2B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285364" y="1278767"/>
            <a:ext cx="13441680" cy="2743457"/>
            <a:chOff x="0" y="0"/>
            <a:chExt cx="17922240" cy="36579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922239" cy="3657942"/>
            </a:xfrm>
            <a:custGeom>
              <a:avLst/>
              <a:gdLst/>
              <a:ahLst/>
              <a:cxnLst/>
              <a:rect r="r" b="b" t="t" l="l"/>
              <a:pathLst>
                <a:path h="3657942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3657942"/>
                  </a:lnTo>
                  <a:lnTo>
                    <a:pt x="0" y="3657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218" r="0" b="-671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7922240" cy="3657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99"/>
                </a:lnSpc>
              </a:pPr>
              <a:r>
                <a:rPr lang="en-US" sz="3749" b="true">
                  <a:solidFill>
                    <a:srgbClr val="4FD8E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Live Global Weather Search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85364" y="2888246"/>
            <a:ext cx="13258800" cy="1059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2999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platform showing real-time conditions worldwide — search any location to view temperature, rainfall, and wind speed instantly.</a:t>
            </a:r>
          </a:p>
        </p:txBody>
      </p:sp>
      <p:sp>
        <p:nvSpPr>
          <p:cNvPr name="AutoShape 16" id="16"/>
          <p:cNvSpPr/>
          <p:nvPr/>
        </p:nvSpPr>
        <p:spPr>
          <a:xfrm>
            <a:off x="441195" y="4135429"/>
            <a:ext cx="16341088" cy="19109"/>
          </a:xfrm>
          <a:prstGeom prst="line">
            <a:avLst/>
          </a:prstGeom>
          <a:ln cap="rnd" w="9525">
            <a:solidFill>
              <a:srgbClr val="2B3A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450724" y="4433019"/>
            <a:ext cx="1069848" cy="1069848"/>
            <a:chOff x="0" y="0"/>
            <a:chExt cx="1426464" cy="14264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713232"/>
                  </a:moveTo>
                  <a:cubicBezTo>
                    <a:pt x="0" y="319278"/>
                    <a:pt x="319278" y="0"/>
                    <a:pt x="713232" y="0"/>
                  </a:cubicBezTo>
                  <a:cubicBezTo>
                    <a:pt x="1107186" y="0"/>
                    <a:pt x="1426464" y="319278"/>
                    <a:pt x="1426464" y="713232"/>
                  </a:cubicBezTo>
                  <a:cubicBezTo>
                    <a:pt x="1426464" y="1107186"/>
                    <a:pt x="1107186" y="1426464"/>
                    <a:pt x="713232" y="1426464"/>
                  </a:cubicBezTo>
                  <a:cubicBezTo>
                    <a:pt x="319278" y="1426464"/>
                    <a:pt x="0" y="1107186"/>
                    <a:pt x="0" y="713232"/>
                  </a:cubicBezTo>
                  <a:close/>
                </a:path>
              </a:pathLst>
            </a:custGeom>
            <a:solidFill>
              <a:srgbClr val="5FE6A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79102" y="4561397"/>
            <a:ext cx="813083" cy="813083"/>
            <a:chOff x="0" y="0"/>
            <a:chExt cx="1084110" cy="1084110"/>
          </a:xfrm>
        </p:grpSpPr>
        <p:sp>
          <p:nvSpPr>
            <p:cNvPr name="Freeform 20" id="20" descr="/home/claude/flood_ppt/icons/search.png"/>
            <p:cNvSpPr/>
            <p:nvPr/>
          </p:nvSpPr>
          <p:spPr>
            <a:xfrm flipH="false" flipV="false" rot="0">
              <a:off x="0" y="0"/>
              <a:ext cx="1084072" cy="1084072"/>
            </a:xfrm>
            <a:custGeom>
              <a:avLst/>
              <a:gdLst/>
              <a:ahLst/>
              <a:cxnLst/>
              <a:rect r="r" b="b" t="t" l="l"/>
              <a:pathLst>
                <a:path h="1084072" w="1084072">
                  <a:moveTo>
                    <a:pt x="0" y="0"/>
                  </a:moveTo>
                  <a:lnTo>
                    <a:pt x="1084072" y="0"/>
                  </a:lnTo>
                  <a:lnTo>
                    <a:pt x="1084072" y="1084072"/>
                  </a:lnTo>
                  <a:lnTo>
                    <a:pt x="0" y="1084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795654" y="2695132"/>
            <a:ext cx="1303020" cy="4395249"/>
            <a:chOff x="0" y="0"/>
            <a:chExt cx="1737360" cy="58603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37360" cy="5860332"/>
            </a:xfrm>
            <a:custGeom>
              <a:avLst/>
              <a:gdLst/>
              <a:ahLst/>
              <a:cxnLst/>
              <a:rect r="r" b="b" t="t" l="l"/>
              <a:pathLst>
                <a:path h="5860332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5860332"/>
                  </a:lnTo>
                  <a:lnTo>
                    <a:pt x="0" y="58603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809" t="0" r="-91809" b="6723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737360" cy="58698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99"/>
                </a:lnSpc>
              </a:pPr>
              <a:r>
                <a:rPr lang="en-US" sz="5999" b="true">
                  <a:solidFill>
                    <a:srgbClr val="2B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193924" y="3272816"/>
            <a:ext cx="13441680" cy="2743457"/>
            <a:chOff x="0" y="0"/>
            <a:chExt cx="17922240" cy="365794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922239" cy="3657942"/>
            </a:xfrm>
            <a:custGeom>
              <a:avLst/>
              <a:gdLst/>
              <a:ahLst/>
              <a:cxnLst/>
              <a:rect r="r" b="b" t="t" l="l"/>
              <a:pathLst>
                <a:path h="3657942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3657942"/>
                  </a:lnTo>
                  <a:lnTo>
                    <a:pt x="0" y="3657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218" r="0" b="-671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7922240" cy="3657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99"/>
                </a:lnSpc>
              </a:pPr>
              <a:r>
                <a:rPr lang="en-US" sz="3749" b="true">
                  <a:solidFill>
                    <a:srgbClr val="5FE6A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Location-Based Risk Check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285364" y="4826592"/>
            <a:ext cx="13258800" cy="1059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2999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When heavy rainfall is detected in an area, the system automatically looks up that location's flood history.</a:t>
            </a:r>
          </a:p>
        </p:txBody>
      </p:sp>
      <p:sp>
        <p:nvSpPr>
          <p:cNvPr name="AutoShape 28" id="28"/>
          <p:cNvSpPr/>
          <p:nvPr/>
        </p:nvSpPr>
        <p:spPr>
          <a:xfrm>
            <a:off x="441195" y="5918509"/>
            <a:ext cx="16341088" cy="19109"/>
          </a:xfrm>
          <a:prstGeom prst="line">
            <a:avLst/>
          </a:prstGeom>
          <a:ln cap="rnd" w="9525">
            <a:solidFill>
              <a:srgbClr val="2B3A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450724" y="6270470"/>
            <a:ext cx="1069848" cy="1069848"/>
            <a:chOff x="0" y="0"/>
            <a:chExt cx="1426464" cy="14264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713232"/>
                  </a:moveTo>
                  <a:cubicBezTo>
                    <a:pt x="0" y="319278"/>
                    <a:pt x="319278" y="0"/>
                    <a:pt x="713232" y="0"/>
                  </a:cubicBezTo>
                  <a:cubicBezTo>
                    <a:pt x="1107186" y="0"/>
                    <a:pt x="1426464" y="319278"/>
                    <a:pt x="1426464" y="713232"/>
                  </a:cubicBezTo>
                  <a:cubicBezTo>
                    <a:pt x="1426464" y="1107186"/>
                    <a:pt x="1107186" y="1426464"/>
                    <a:pt x="713232" y="1426464"/>
                  </a:cubicBezTo>
                  <a:cubicBezTo>
                    <a:pt x="319278" y="1426464"/>
                    <a:pt x="0" y="1107186"/>
                    <a:pt x="0" y="713232"/>
                  </a:cubicBezTo>
                  <a:close/>
                </a:path>
              </a:pathLst>
            </a:custGeom>
            <a:solidFill>
              <a:srgbClr val="FFC85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79102" y="6398848"/>
            <a:ext cx="813083" cy="813083"/>
            <a:chOff x="0" y="0"/>
            <a:chExt cx="1084110" cy="1084110"/>
          </a:xfrm>
        </p:grpSpPr>
        <p:sp>
          <p:nvSpPr>
            <p:cNvPr name="Freeform 32" id="32" descr="/home/claude/flood_ppt/icons/history.png"/>
            <p:cNvSpPr/>
            <p:nvPr/>
          </p:nvSpPr>
          <p:spPr>
            <a:xfrm flipH="false" flipV="false" rot="0">
              <a:off x="0" y="0"/>
              <a:ext cx="1084072" cy="1084072"/>
            </a:xfrm>
            <a:custGeom>
              <a:avLst/>
              <a:gdLst/>
              <a:ahLst/>
              <a:cxnLst/>
              <a:rect r="r" b="b" t="t" l="l"/>
              <a:pathLst>
                <a:path h="1084072" w="1084072">
                  <a:moveTo>
                    <a:pt x="0" y="0"/>
                  </a:moveTo>
                  <a:lnTo>
                    <a:pt x="1084072" y="0"/>
                  </a:lnTo>
                  <a:lnTo>
                    <a:pt x="1084072" y="1084072"/>
                  </a:lnTo>
                  <a:lnTo>
                    <a:pt x="0" y="1084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" b="-3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848994" y="4666379"/>
            <a:ext cx="1276350" cy="4204879"/>
            <a:chOff x="0" y="0"/>
            <a:chExt cx="1737360" cy="57236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37360" cy="5723656"/>
            </a:xfrm>
            <a:custGeom>
              <a:avLst/>
              <a:gdLst/>
              <a:ahLst/>
              <a:cxnLst/>
              <a:rect r="r" b="b" t="t" l="l"/>
              <a:pathLst>
                <a:path h="5723656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5723656"/>
                  </a:lnTo>
                  <a:lnTo>
                    <a:pt x="0" y="5723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809" t="0" r="-91809" b="6645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737360" cy="5733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193924" y="5080607"/>
            <a:ext cx="13441680" cy="2743457"/>
            <a:chOff x="0" y="0"/>
            <a:chExt cx="17922240" cy="365794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922239" cy="3657942"/>
            </a:xfrm>
            <a:custGeom>
              <a:avLst/>
              <a:gdLst/>
              <a:ahLst/>
              <a:cxnLst/>
              <a:rect r="r" b="b" t="t" l="l"/>
              <a:pathLst>
                <a:path h="3657942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3657942"/>
                  </a:lnTo>
                  <a:lnTo>
                    <a:pt x="0" y="3657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218" r="0" b="-671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7922240" cy="3657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99"/>
                </a:lnSpc>
              </a:pPr>
              <a:r>
                <a:rPr lang="en-US" sz="3749" b="true">
                  <a:solidFill>
                    <a:srgbClr val="FFC85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Historical Threat Mapping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3193924" y="6673568"/>
            <a:ext cx="13845883" cy="1013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7"/>
              </a:lnSpc>
            </a:pPr>
            <a:r>
              <a:rPr lang="en-US" sz="2899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EM-DAT international disaster dataset (1988–present) &amp; GPS data from the Dartmouth Flood Observatory (DFO) to check if the area — or nearby zones — has flooded before.</a:t>
            </a:r>
          </a:p>
        </p:txBody>
      </p:sp>
      <p:sp>
        <p:nvSpPr>
          <p:cNvPr name="AutoShape 40" id="40"/>
          <p:cNvSpPr/>
          <p:nvPr/>
        </p:nvSpPr>
        <p:spPr>
          <a:xfrm>
            <a:off x="502498" y="8086778"/>
            <a:ext cx="16341088" cy="19109"/>
          </a:xfrm>
          <a:prstGeom prst="line">
            <a:avLst/>
          </a:prstGeom>
          <a:ln cap="rnd" w="9525">
            <a:solidFill>
              <a:srgbClr val="2B3A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512027" y="8384369"/>
            <a:ext cx="1069848" cy="1069848"/>
            <a:chOff x="0" y="0"/>
            <a:chExt cx="1426464" cy="14264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713232"/>
                  </a:moveTo>
                  <a:cubicBezTo>
                    <a:pt x="0" y="319278"/>
                    <a:pt x="319278" y="0"/>
                    <a:pt x="713232" y="0"/>
                  </a:cubicBezTo>
                  <a:cubicBezTo>
                    <a:pt x="1107186" y="0"/>
                    <a:pt x="1426464" y="319278"/>
                    <a:pt x="1426464" y="713232"/>
                  </a:cubicBezTo>
                  <a:cubicBezTo>
                    <a:pt x="1426464" y="1107186"/>
                    <a:pt x="1107186" y="1426464"/>
                    <a:pt x="713232" y="1426464"/>
                  </a:cubicBezTo>
                  <a:cubicBezTo>
                    <a:pt x="319278" y="1426464"/>
                    <a:pt x="0" y="1107186"/>
                    <a:pt x="0" y="713232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40405" y="8512747"/>
            <a:ext cx="813083" cy="813083"/>
            <a:chOff x="0" y="0"/>
            <a:chExt cx="1084110" cy="1084110"/>
          </a:xfrm>
        </p:grpSpPr>
        <p:sp>
          <p:nvSpPr>
            <p:cNvPr name="Freeform 44" id="44" descr="/home/claude/flood_ppt/icons/brain.png"/>
            <p:cNvSpPr/>
            <p:nvPr/>
          </p:nvSpPr>
          <p:spPr>
            <a:xfrm flipH="false" flipV="false" rot="0">
              <a:off x="0" y="0"/>
              <a:ext cx="1084072" cy="1084072"/>
            </a:xfrm>
            <a:custGeom>
              <a:avLst/>
              <a:gdLst/>
              <a:ahLst/>
              <a:cxnLst/>
              <a:rect r="r" b="b" t="t" l="l"/>
              <a:pathLst>
                <a:path h="1084072" w="1084072">
                  <a:moveTo>
                    <a:pt x="0" y="0"/>
                  </a:moveTo>
                  <a:lnTo>
                    <a:pt x="1084072" y="0"/>
                  </a:lnTo>
                  <a:lnTo>
                    <a:pt x="1084072" y="1084072"/>
                  </a:lnTo>
                  <a:lnTo>
                    <a:pt x="0" y="1084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" b="-3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795654" y="6714447"/>
            <a:ext cx="1303020" cy="3883272"/>
            <a:chOff x="0" y="0"/>
            <a:chExt cx="1737360" cy="51776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37360" cy="5177696"/>
            </a:xfrm>
            <a:custGeom>
              <a:avLst/>
              <a:gdLst/>
              <a:ahLst/>
              <a:cxnLst/>
              <a:rect r="r" b="b" t="t" l="l"/>
              <a:pathLst>
                <a:path h="5177696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5177696"/>
                  </a:lnTo>
                  <a:lnTo>
                    <a:pt x="0" y="51776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809" t="0" r="-91809" b="6291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737360" cy="51872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59"/>
                </a:lnSpc>
              </a:pPr>
              <a:r>
                <a:rPr lang="en-US" sz="5299" b="true">
                  <a:solidFill>
                    <a:srgbClr val="2B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245693" y="7102407"/>
            <a:ext cx="13441680" cy="2743457"/>
            <a:chOff x="0" y="0"/>
            <a:chExt cx="17922240" cy="365794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922239" cy="3657942"/>
            </a:xfrm>
            <a:custGeom>
              <a:avLst/>
              <a:gdLst/>
              <a:ahLst/>
              <a:cxnLst/>
              <a:rect r="r" b="b" t="t" l="l"/>
              <a:pathLst>
                <a:path h="3657942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3657942"/>
                  </a:lnTo>
                  <a:lnTo>
                    <a:pt x="0" y="3657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218" r="0" b="-671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7922240" cy="3657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99"/>
                </a:lnSpc>
              </a:pPr>
              <a:r>
                <a:rPr lang="en-US" sz="3749" b="true">
                  <a:solidFill>
                    <a:srgbClr val="FF6B6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AI/ML-Driven Prediction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3346667" y="8814518"/>
            <a:ext cx="13258800" cy="109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3099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trained model fuses live weather with historical vulnerability to output a predicted flood risk, not just raw data.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6696907" y="10263461"/>
            <a:ext cx="685800" cy="411480"/>
            <a:chOff x="0" y="0"/>
            <a:chExt cx="9144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60"/>
                </a:lnSpc>
              </a:pPr>
              <a:r>
                <a:rPr lang="en-US" sz="1550" b="true">
                  <a:solidFill>
                    <a:srgbClr val="4FD8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251817" y="-181103"/>
            <a:ext cx="17441823" cy="175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5"/>
              </a:lnSpc>
              <a:spcBef>
                <a:spcPct val="0"/>
              </a:spcBef>
            </a:pPr>
            <a:r>
              <a:rPr lang="en-US" b="true" sz="9199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</a:t>
            </a:r>
            <a:r>
              <a:rPr lang="en-US" b="true" sz="9199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roposed Solution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7007840" y="9765792"/>
            <a:ext cx="685800" cy="411480"/>
            <a:chOff x="0" y="0"/>
            <a:chExt cx="9144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60"/>
                </a:lnSpc>
              </a:pPr>
              <a:r>
                <a:rPr lang="en-US" sz="1550" b="true">
                  <a:solidFill>
                    <a:srgbClr val="4FD8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78908" y="-1835734"/>
            <a:ext cx="12344400" cy="5206597"/>
            <a:chOff x="0" y="0"/>
            <a:chExt cx="16459200" cy="69421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6942129"/>
            </a:xfrm>
            <a:custGeom>
              <a:avLst/>
              <a:gdLst/>
              <a:ahLst/>
              <a:cxnLst/>
              <a:rect r="r" b="b" t="t" l="l"/>
              <a:pathLst>
                <a:path h="6942129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942129"/>
                  </a:lnTo>
                  <a:lnTo>
                    <a:pt x="0" y="69421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35" r="0" b="452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459200" cy="6961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519"/>
                </a:lnSpc>
              </a:pPr>
              <a:r>
                <a:rPr lang="en-US" sz="70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System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48456" y="1542573"/>
            <a:ext cx="18349173" cy="720401"/>
            <a:chOff x="0" y="0"/>
            <a:chExt cx="24465564" cy="9605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65564" cy="960535"/>
            </a:xfrm>
            <a:custGeom>
              <a:avLst/>
              <a:gdLst/>
              <a:ahLst/>
              <a:cxnLst/>
              <a:rect r="r" b="b" t="t" l="l"/>
              <a:pathLst>
                <a:path h="960535" w="24465564">
                  <a:moveTo>
                    <a:pt x="0" y="0"/>
                  </a:moveTo>
                  <a:lnTo>
                    <a:pt x="24465564" y="0"/>
                  </a:lnTo>
                  <a:lnTo>
                    <a:pt x="24465564" y="960535"/>
                  </a:lnTo>
                  <a:lnTo>
                    <a:pt x="0" y="9605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1453" r="21512" b="-3276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4465564" cy="1046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b="true" sz="3599" i="true">
                  <a:solidFill>
                    <a:srgbClr val="FFC857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A five-stage data pipeline, from live signal to risk score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2825496" cy="4343400"/>
            <a:chOff x="0" y="0"/>
            <a:chExt cx="3767328" cy="579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67328" cy="5791200"/>
            </a:xfrm>
            <a:custGeom>
              <a:avLst/>
              <a:gdLst/>
              <a:ahLst/>
              <a:cxnLst/>
              <a:rect r="r" b="b" t="t" l="l"/>
              <a:pathLst>
                <a:path h="5791200" w="3767328">
                  <a:moveTo>
                    <a:pt x="0" y="239636"/>
                  </a:moveTo>
                  <a:cubicBezTo>
                    <a:pt x="0" y="107337"/>
                    <a:pt x="98298" y="0"/>
                    <a:pt x="219456" y="0"/>
                  </a:cubicBezTo>
                  <a:lnTo>
                    <a:pt x="3547872" y="0"/>
                  </a:lnTo>
                  <a:cubicBezTo>
                    <a:pt x="3669030" y="0"/>
                    <a:pt x="3767328" y="107337"/>
                    <a:pt x="3767328" y="239636"/>
                  </a:cubicBezTo>
                  <a:lnTo>
                    <a:pt x="3767328" y="5551564"/>
                  </a:lnTo>
                  <a:cubicBezTo>
                    <a:pt x="3767328" y="5683863"/>
                    <a:pt x="3669030" y="5791200"/>
                    <a:pt x="3547872" y="5791200"/>
                  </a:cubicBezTo>
                  <a:lnTo>
                    <a:pt x="219456" y="5791200"/>
                  </a:lnTo>
                  <a:cubicBezTo>
                    <a:pt x="98298" y="5791200"/>
                    <a:pt x="0" y="5683863"/>
                    <a:pt x="0" y="5551564"/>
                  </a:cubicBezTo>
                  <a:close/>
                </a:path>
              </a:pathLst>
            </a:custGeom>
            <a:solidFill>
              <a:srgbClr val="16213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48369" y="2770060"/>
            <a:ext cx="467487" cy="467487"/>
            <a:chOff x="0" y="0"/>
            <a:chExt cx="623316" cy="6233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3316" cy="623316"/>
            </a:xfrm>
            <a:custGeom>
              <a:avLst/>
              <a:gdLst/>
              <a:ahLst/>
              <a:cxnLst/>
              <a:rect r="r" b="b" t="t" l="l"/>
              <a:pathLst>
                <a:path h="623316" w="623316">
                  <a:moveTo>
                    <a:pt x="0" y="311658"/>
                  </a:moveTo>
                  <a:cubicBezTo>
                    <a:pt x="0" y="139573"/>
                    <a:pt x="139573" y="0"/>
                    <a:pt x="311658" y="0"/>
                  </a:cubicBezTo>
                  <a:cubicBezTo>
                    <a:pt x="483743" y="0"/>
                    <a:pt x="623316" y="139573"/>
                    <a:pt x="623316" y="311658"/>
                  </a:cubicBezTo>
                  <a:cubicBezTo>
                    <a:pt x="623316" y="483743"/>
                    <a:pt x="483743" y="623316"/>
                    <a:pt x="311658" y="623316"/>
                  </a:cubicBezTo>
                  <a:cubicBezTo>
                    <a:pt x="139573" y="623316"/>
                    <a:pt x="0" y="483743"/>
                    <a:pt x="0" y="311658"/>
                  </a:cubicBezTo>
                  <a:close/>
                </a:path>
              </a:pathLst>
            </a:custGeom>
            <a:solidFill>
              <a:srgbClr val="0B1220"/>
            </a:solidFill>
            <a:ln w="28575" cap="sq">
              <a:solidFill>
                <a:srgbClr val="4FD8E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962656" y="2784348"/>
            <a:ext cx="438912" cy="542682"/>
            <a:chOff x="0" y="0"/>
            <a:chExt cx="585216" cy="7235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5216" cy="723576"/>
            </a:xfrm>
            <a:custGeom>
              <a:avLst/>
              <a:gdLst/>
              <a:ahLst/>
              <a:cxnLst/>
              <a:rect r="r" b="b" t="t" l="l"/>
              <a:pathLst>
                <a:path h="72357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723576"/>
                  </a:lnTo>
                  <a:lnTo>
                    <a:pt x="0" y="723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191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585216" cy="7807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4FD8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41932" y="2921508"/>
            <a:ext cx="987552" cy="987552"/>
            <a:chOff x="0" y="0"/>
            <a:chExt cx="1316736" cy="13167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4FD8E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60442" y="3040018"/>
            <a:ext cx="750541" cy="750541"/>
            <a:chOff x="0" y="0"/>
            <a:chExt cx="1000722" cy="1000722"/>
          </a:xfrm>
        </p:grpSpPr>
        <p:sp>
          <p:nvSpPr>
            <p:cNvPr name="Freeform 18" id="18" descr="/home/claude/flood_ppt/icons/globe.png"/>
            <p:cNvSpPr/>
            <p:nvPr/>
          </p:nvSpPr>
          <p:spPr>
            <a:xfrm flipH="false" flipV="false" rot="0">
              <a:off x="0" y="0"/>
              <a:ext cx="1000760" cy="1000760"/>
            </a:xfrm>
            <a:custGeom>
              <a:avLst/>
              <a:gdLst/>
              <a:ahLst/>
              <a:cxnLst/>
              <a:rect r="r" b="b" t="t" l="l"/>
              <a:pathLst>
                <a:path h="1000760" w="1000760">
                  <a:moveTo>
                    <a:pt x="0" y="0"/>
                  </a:moveTo>
                  <a:lnTo>
                    <a:pt x="1000760" y="0"/>
                  </a:lnTo>
                  <a:lnTo>
                    <a:pt x="100076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06424" y="4182618"/>
            <a:ext cx="225856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9"/>
              </a:lnSpc>
            </a:pPr>
            <a:r>
              <a:rPr lang="en-US" sz="2674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Live Weather API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3856" y="4957953"/>
            <a:ext cx="2203704" cy="1749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8"/>
              </a:lnSpc>
            </a:pPr>
            <a:r>
              <a:rPr lang="en-US" sz="2074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Rainfall, temperature, humidity &amp; wind speed for the searched location.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689604" y="4306824"/>
            <a:ext cx="438912" cy="438912"/>
            <a:chOff x="0" y="0"/>
            <a:chExt cx="585216" cy="585216"/>
          </a:xfrm>
        </p:grpSpPr>
        <p:sp>
          <p:nvSpPr>
            <p:cNvPr name="Freeform 22" id="22" descr="/home/claude/flood_ppt/icons/arrow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265676" y="2537460"/>
            <a:ext cx="2825496" cy="4343400"/>
            <a:chOff x="0" y="0"/>
            <a:chExt cx="3767328" cy="579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67328" cy="5791200"/>
            </a:xfrm>
            <a:custGeom>
              <a:avLst/>
              <a:gdLst/>
              <a:ahLst/>
              <a:cxnLst/>
              <a:rect r="r" b="b" t="t" l="l"/>
              <a:pathLst>
                <a:path h="5791200" w="3767328">
                  <a:moveTo>
                    <a:pt x="0" y="239636"/>
                  </a:moveTo>
                  <a:cubicBezTo>
                    <a:pt x="0" y="107337"/>
                    <a:pt x="98298" y="0"/>
                    <a:pt x="219456" y="0"/>
                  </a:cubicBezTo>
                  <a:lnTo>
                    <a:pt x="3547872" y="0"/>
                  </a:lnTo>
                  <a:cubicBezTo>
                    <a:pt x="3669030" y="0"/>
                    <a:pt x="3767328" y="107337"/>
                    <a:pt x="3767328" y="239636"/>
                  </a:cubicBezTo>
                  <a:lnTo>
                    <a:pt x="3767328" y="5551564"/>
                  </a:lnTo>
                  <a:cubicBezTo>
                    <a:pt x="3767328" y="5683863"/>
                    <a:pt x="3669030" y="5791200"/>
                    <a:pt x="3547872" y="5791200"/>
                  </a:cubicBezTo>
                  <a:lnTo>
                    <a:pt x="219456" y="5791200"/>
                  </a:lnTo>
                  <a:cubicBezTo>
                    <a:pt x="98298" y="5791200"/>
                    <a:pt x="0" y="5683863"/>
                    <a:pt x="0" y="5551564"/>
                  </a:cubicBezTo>
                  <a:close/>
                </a:path>
              </a:pathLst>
            </a:custGeom>
            <a:solidFill>
              <a:srgbClr val="16213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391084" y="2770060"/>
            <a:ext cx="467487" cy="467487"/>
            <a:chOff x="0" y="0"/>
            <a:chExt cx="623316" cy="6233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3316" cy="623316"/>
            </a:xfrm>
            <a:custGeom>
              <a:avLst/>
              <a:gdLst/>
              <a:ahLst/>
              <a:cxnLst/>
              <a:rect r="r" b="b" t="t" l="l"/>
              <a:pathLst>
                <a:path h="623316" w="623316">
                  <a:moveTo>
                    <a:pt x="0" y="311658"/>
                  </a:moveTo>
                  <a:cubicBezTo>
                    <a:pt x="0" y="139573"/>
                    <a:pt x="139573" y="0"/>
                    <a:pt x="311658" y="0"/>
                  </a:cubicBezTo>
                  <a:cubicBezTo>
                    <a:pt x="483743" y="0"/>
                    <a:pt x="623316" y="139573"/>
                    <a:pt x="623316" y="311658"/>
                  </a:cubicBezTo>
                  <a:cubicBezTo>
                    <a:pt x="623316" y="483743"/>
                    <a:pt x="483743" y="623316"/>
                    <a:pt x="311658" y="623316"/>
                  </a:cubicBezTo>
                  <a:cubicBezTo>
                    <a:pt x="139573" y="623316"/>
                    <a:pt x="0" y="483743"/>
                    <a:pt x="0" y="311658"/>
                  </a:cubicBezTo>
                  <a:close/>
                </a:path>
              </a:pathLst>
            </a:custGeom>
            <a:solidFill>
              <a:srgbClr val="0B1220"/>
            </a:solidFill>
            <a:ln w="2857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405372" y="2784348"/>
            <a:ext cx="438912" cy="438912"/>
            <a:chOff x="0" y="0"/>
            <a:chExt cx="585216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C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84648" y="2921508"/>
            <a:ext cx="987552" cy="987552"/>
            <a:chOff x="0" y="0"/>
            <a:chExt cx="1316736" cy="13167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FFC85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303158" y="3040018"/>
            <a:ext cx="750541" cy="750541"/>
            <a:chOff x="0" y="0"/>
            <a:chExt cx="1000722" cy="1000722"/>
          </a:xfrm>
        </p:grpSpPr>
        <p:sp>
          <p:nvSpPr>
            <p:cNvPr name="Freeform 33" id="33" descr="/home/claude/flood_ppt/icons/database.png"/>
            <p:cNvSpPr/>
            <p:nvPr/>
          </p:nvSpPr>
          <p:spPr>
            <a:xfrm flipH="false" flipV="false" rot="0">
              <a:off x="0" y="0"/>
              <a:ext cx="1000760" cy="1000760"/>
            </a:xfrm>
            <a:custGeom>
              <a:avLst/>
              <a:gdLst/>
              <a:ahLst/>
              <a:cxnLst/>
              <a:rect r="r" b="b" t="t" l="l"/>
              <a:pathLst>
                <a:path h="1000760" w="1000760">
                  <a:moveTo>
                    <a:pt x="0" y="0"/>
                  </a:moveTo>
                  <a:lnTo>
                    <a:pt x="1000760" y="0"/>
                  </a:lnTo>
                  <a:lnTo>
                    <a:pt x="100076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4549140" y="4182618"/>
            <a:ext cx="225856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9"/>
              </a:lnSpc>
            </a:pPr>
            <a:r>
              <a:rPr lang="en-US" sz="2674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Historical Data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576572" y="5067300"/>
            <a:ext cx="2203704" cy="15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274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Clean &amp; filter flood events; geo-match to the searched location.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132320" y="4306824"/>
            <a:ext cx="438912" cy="438912"/>
            <a:chOff x="0" y="0"/>
            <a:chExt cx="585216" cy="585216"/>
          </a:xfrm>
        </p:grpSpPr>
        <p:sp>
          <p:nvSpPr>
            <p:cNvPr name="Freeform 37" id="37" descr="/home/claude/flood_ppt/icons/arrow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708392" y="2537460"/>
            <a:ext cx="2825496" cy="4343400"/>
            <a:chOff x="0" y="0"/>
            <a:chExt cx="3767328" cy="5791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67328" cy="5791200"/>
            </a:xfrm>
            <a:custGeom>
              <a:avLst/>
              <a:gdLst/>
              <a:ahLst/>
              <a:cxnLst/>
              <a:rect r="r" b="b" t="t" l="l"/>
              <a:pathLst>
                <a:path h="5791200" w="3767328">
                  <a:moveTo>
                    <a:pt x="0" y="239636"/>
                  </a:moveTo>
                  <a:cubicBezTo>
                    <a:pt x="0" y="107337"/>
                    <a:pt x="98298" y="0"/>
                    <a:pt x="219456" y="0"/>
                  </a:cubicBezTo>
                  <a:lnTo>
                    <a:pt x="3547872" y="0"/>
                  </a:lnTo>
                  <a:cubicBezTo>
                    <a:pt x="3669030" y="0"/>
                    <a:pt x="3767328" y="107337"/>
                    <a:pt x="3767328" y="239636"/>
                  </a:cubicBezTo>
                  <a:lnTo>
                    <a:pt x="3767328" y="5551564"/>
                  </a:lnTo>
                  <a:cubicBezTo>
                    <a:pt x="3767328" y="5683863"/>
                    <a:pt x="3669030" y="5791200"/>
                    <a:pt x="3547872" y="5791200"/>
                  </a:cubicBezTo>
                  <a:lnTo>
                    <a:pt x="219456" y="5791200"/>
                  </a:lnTo>
                  <a:cubicBezTo>
                    <a:pt x="98298" y="5791200"/>
                    <a:pt x="0" y="5683863"/>
                    <a:pt x="0" y="5551564"/>
                  </a:cubicBezTo>
                  <a:close/>
                </a:path>
              </a:pathLst>
            </a:custGeom>
            <a:solidFill>
              <a:srgbClr val="16213D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833800" y="2770060"/>
            <a:ext cx="467487" cy="467487"/>
            <a:chOff x="0" y="0"/>
            <a:chExt cx="623316" cy="6233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316" cy="623316"/>
            </a:xfrm>
            <a:custGeom>
              <a:avLst/>
              <a:gdLst/>
              <a:ahLst/>
              <a:cxnLst/>
              <a:rect r="r" b="b" t="t" l="l"/>
              <a:pathLst>
                <a:path h="623316" w="623316">
                  <a:moveTo>
                    <a:pt x="0" y="311658"/>
                  </a:moveTo>
                  <a:cubicBezTo>
                    <a:pt x="0" y="139573"/>
                    <a:pt x="139573" y="0"/>
                    <a:pt x="311658" y="0"/>
                  </a:cubicBezTo>
                  <a:cubicBezTo>
                    <a:pt x="483743" y="0"/>
                    <a:pt x="623316" y="139573"/>
                    <a:pt x="623316" y="311658"/>
                  </a:cubicBezTo>
                  <a:cubicBezTo>
                    <a:pt x="623316" y="483743"/>
                    <a:pt x="483743" y="623316"/>
                    <a:pt x="311658" y="623316"/>
                  </a:cubicBezTo>
                  <a:cubicBezTo>
                    <a:pt x="139573" y="623316"/>
                    <a:pt x="0" y="483743"/>
                    <a:pt x="0" y="311658"/>
                  </a:cubicBezTo>
                  <a:close/>
                </a:path>
              </a:pathLst>
            </a:custGeom>
            <a:solidFill>
              <a:srgbClr val="0B1220"/>
            </a:solidFill>
            <a:ln w="28575" cap="sq">
              <a:solidFill>
                <a:srgbClr val="5FE6A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848088" y="2784348"/>
            <a:ext cx="438912" cy="438912"/>
            <a:chOff x="0" y="0"/>
            <a:chExt cx="585216" cy="58521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5FE6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627364" y="2921508"/>
            <a:ext cx="987552" cy="987552"/>
            <a:chOff x="0" y="0"/>
            <a:chExt cx="1316736" cy="13167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5FE6A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745874" y="3040018"/>
            <a:ext cx="750541" cy="750541"/>
            <a:chOff x="0" y="0"/>
            <a:chExt cx="1000722" cy="1000722"/>
          </a:xfrm>
        </p:grpSpPr>
        <p:sp>
          <p:nvSpPr>
            <p:cNvPr name="Freeform 48" id="48" descr="/home/claude/flood_ppt/icons/cogs.png"/>
            <p:cNvSpPr/>
            <p:nvPr/>
          </p:nvSpPr>
          <p:spPr>
            <a:xfrm flipH="false" flipV="false" rot="0">
              <a:off x="0" y="0"/>
              <a:ext cx="1000760" cy="1000760"/>
            </a:xfrm>
            <a:custGeom>
              <a:avLst/>
              <a:gdLst/>
              <a:ahLst/>
              <a:cxnLst/>
              <a:rect r="r" b="b" t="t" l="l"/>
              <a:pathLst>
                <a:path h="1000760" w="1000760">
                  <a:moveTo>
                    <a:pt x="0" y="0"/>
                  </a:moveTo>
                  <a:lnTo>
                    <a:pt x="1000760" y="0"/>
                  </a:lnTo>
                  <a:lnTo>
                    <a:pt x="100076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7991856" y="4192143"/>
            <a:ext cx="225856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874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Feature Engineering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991856" y="5067300"/>
            <a:ext cx="2203704" cy="15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274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Derive signals like past-flood count and average flood rainfall.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0575036" y="4306824"/>
            <a:ext cx="438912" cy="438912"/>
            <a:chOff x="0" y="0"/>
            <a:chExt cx="585216" cy="585216"/>
          </a:xfrm>
        </p:grpSpPr>
        <p:sp>
          <p:nvSpPr>
            <p:cNvPr name="Freeform 52" id="52" descr="/home/claude/flood_ppt/icons/arrow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151108" y="2537460"/>
            <a:ext cx="2825496" cy="4343400"/>
            <a:chOff x="0" y="0"/>
            <a:chExt cx="3767328" cy="5791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767328" cy="5791200"/>
            </a:xfrm>
            <a:custGeom>
              <a:avLst/>
              <a:gdLst/>
              <a:ahLst/>
              <a:cxnLst/>
              <a:rect r="r" b="b" t="t" l="l"/>
              <a:pathLst>
                <a:path h="5791200" w="3767328">
                  <a:moveTo>
                    <a:pt x="0" y="239636"/>
                  </a:moveTo>
                  <a:cubicBezTo>
                    <a:pt x="0" y="107337"/>
                    <a:pt x="98298" y="0"/>
                    <a:pt x="219456" y="0"/>
                  </a:cubicBezTo>
                  <a:lnTo>
                    <a:pt x="3547872" y="0"/>
                  </a:lnTo>
                  <a:cubicBezTo>
                    <a:pt x="3669030" y="0"/>
                    <a:pt x="3767328" y="107337"/>
                    <a:pt x="3767328" y="239636"/>
                  </a:cubicBezTo>
                  <a:lnTo>
                    <a:pt x="3767328" y="5551564"/>
                  </a:lnTo>
                  <a:cubicBezTo>
                    <a:pt x="3767328" y="5683863"/>
                    <a:pt x="3669030" y="5791200"/>
                    <a:pt x="3547872" y="5791200"/>
                  </a:cubicBezTo>
                  <a:lnTo>
                    <a:pt x="219456" y="5791200"/>
                  </a:lnTo>
                  <a:cubicBezTo>
                    <a:pt x="98298" y="5791200"/>
                    <a:pt x="0" y="5683863"/>
                    <a:pt x="0" y="5551564"/>
                  </a:cubicBezTo>
                  <a:close/>
                </a:path>
              </a:pathLst>
            </a:custGeom>
            <a:solidFill>
              <a:srgbClr val="16213D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276516" y="2770060"/>
            <a:ext cx="467487" cy="467487"/>
            <a:chOff x="0" y="0"/>
            <a:chExt cx="623316" cy="6233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23316" cy="623316"/>
            </a:xfrm>
            <a:custGeom>
              <a:avLst/>
              <a:gdLst/>
              <a:ahLst/>
              <a:cxnLst/>
              <a:rect r="r" b="b" t="t" l="l"/>
              <a:pathLst>
                <a:path h="623316" w="623316">
                  <a:moveTo>
                    <a:pt x="0" y="311658"/>
                  </a:moveTo>
                  <a:cubicBezTo>
                    <a:pt x="0" y="139573"/>
                    <a:pt x="139573" y="0"/>
                    <a:pt x="311658" y="0"/>
                  </a:cubicBezTo>
                  <a:cubicBezTo>
                    <a:pt x="483743" y="0"/>
                    <a:pt x="623316" y="139573"/>
                    <a:pt x="623316" y="311658"/>
                  </a:cubicBezTo>
                  <a:cubicBezTo>
                    <a:pt x="623316" y="483743"/>
                    <a:pt x="483743" y="623316"/>
                    <a:pt x="311658" y="623316"/>
                  </a:cubicBezTo>
                  <a:cubicBezTo>
                    <a:pt x="139573" y="623316"/>
                    <a:pt x="0" y="483743"/>
                    <a:pt x="0" y="311658"/>
                  </a:cubicBezTo>
                  <a:close/>
                </a:path>
              </a:pathLst>
            </a:custGeom>
            <a:solidFill>
              <a:srgbClr val="0B1220"/>
            </a:solidFill>
            <a:ln w="28575" cap="sq">
              <a:solidFill>
                <a:srgbClr val="B592FF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3290804" y="2784348"/>
            <a:ext cx="438912" cy="438912"/>
            <a:chOff x="0" y="0"/>
            <a:chExt cx="585216" cy="58521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B592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070080" y="2921508"/>
            <a:ext cx="987552" cy="987552"/>
            <a:chOff x="0" y="0"/>
            <a:chExt cx="1316736" cy="131673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B592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188590" y="3040018"/>
            <a:ext cx="750541" cy="750541"/>
            <a:chOff x="0" y="0"/>
            <a:chExt cx="1000722" cy="1000722"/>
          </a:xfrm>
        </p:grpSpPr>
        <p:sp>
          <p:nvSpPr>
            <p:cNvPr name="Freeform 63" id="63" descr="/home/claude/flood_ppt/icons/brain.png"/>
            <p:cNvSpPr/>
            <p:nvPr/>
          </p:nvSpPr>
          <p:spPr>
            <a:xfrm flipH="false" flipV="false" rot="0">
              <a:off x="0" y="0"/>
              <a:ext cx="1000760" cy="1000760"/>
            </a:xfrm>
            <a:custGeom>
              <a:avLst/>
              <a:gdLst/>
              <a:ahLst/>
              <a:cxnLst/>
              <a:rect r="r" b="b" t="t" l="l"/>
              <a:pathLst>
                <a:path h="1000760" w="1000760">
                  <a:moveTo>
                    <a:pt x="0" y="0"/>
                  </a:moveTo>
                  <a:lnTo>
                    <a:pt x="1000760" y="0"/>
                  </a:lnTo>
                  <a:lnTo>
                    <a:pt x="100076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3" b="3"/>
              </a:stretch>
            </a:blip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1434572" y="4192143"/>
            <a:ext cx="225856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9"/>
              </a:lnSpc>
            </a:pPr>
            <a:r>
              <a:rPr lang="en-US" sz="2774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ML Model Training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434572" y="5141976"/>
            <a:ext cx="2203704" cy="15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274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XGBoost / Random Forest or LSTM learns the risk pattern.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4017752" y="4306824"/>
            <a:ext cx="438912" cy="438912"/>
            <a:chOff x="0" y="0"/>
            <a:chExt cx="585216" cy="585216"/>
          </a:xfrm>
        </p:grpSpPr>
        <p:sp>
          <p:nvSpPr>
            <p:cNvPr name="Freeform 67" id="67" descr="/home/claude/flood_ppt/icons/arrow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593824" y="2537460"/>
            <a:ext cx="2825496" cy="4343400"/>
            <a:chOff x="0" y="0"/>
            <a:chExt cx="3767328" cy="5791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767328" cy="5791200"/>
            </a:xfrm>
            <a:custGeom>
              <a:avLst/>
              <a:gdLst/>
              <a:ahLst/>
              <a:cxnLst/>
              <a:rect r="r" b="b" t="t" l="l"/>
              <a:pathLst>
                <a:path h="5791200" w="3767328">
                  <a:moveTo>
                    <a:pt x="0" y="239636"/>
                  </a:moveTo>
                  <a:cubicBezTo>
                    <a:pt x="0" y="107337"/>
                    <a:pt x="98298" y="0"/>
                    <a:pt x="219456" y="0"/>
                  </a:cubicBezTo>
                  <a:lnTo>
                    <a:pt x="3547872" y="0"/>
                  </a:lnTo>
                  <a:cubicBezTo>
                    <a:pt x="3669030" y="0"/>
                    <a:pt x="3767328" y="107337"/>
                    <a:pt x="3767328" y="239636"/>
                  </a:cubicBezTo>
                  <a:lnTo>
                    <a:pt x="3767328" y="5551564"/>
                  </a:lnTo>
                  <a:cubicBezTo>
                    <a:pt x="3767328" y="5683863"/>
                    <a:pt x="3669030" y="5791200"/>
                    <a:pt x="3547872" y="5791200"/>
                  </a:cubicBezTo>
                  <a:lnTo>
                    <a:pt x="219456" y="5791200"/>
                  </a:lnTo>
                  <a:cubicBezTo>
                    <a:pt x="98298" y="5791200"/>
                    <a:pt x="0" y="5683863"/>
                    <a:pt x="0" y="5551564"/>
                  </a:cubicBezTo>
                  <a:close/>
                </a:path>
              </a:pathLst>
            </a:custGeom>
            <a:solidFill>
              <a:srgbClr val="16213D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6719232" y="2770060"/>
            <a:ext cx="467487" cy="467487"/>
            <a:chOff x="0" y="0"/>
            <a:chExt cx="623316" cy="62331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23316" cy="623316"/>
            </a:xfrm>
            <a:custGeom>
              <a:avLst/>
              <a:gdLst/>
              <a:ahLst/>
              <a:cxnLst/>
              <a:rect r="r" b="b" t="t" l="l"/>
              <a:pathLst>
                <a:path h="623316" w="623316">
                  <a:moveTo>
                    <a:pt x="0" y="311658"/>
                  </a:moveTo>
                  <a:cubicBezTo>
                    <a:pt x="0" y="139573"/>
                    <a:pt x="139573" y="0"/>
                    <a:pt x="311658" y="0"/>
                  </a:cubicBezTo>
                  <a:cubicBezTo>
                    <a:pt x="483743" y="0"/>
                    <a:pt x="623316" y="139573"/>
                    <a:pt x="623316" y="311658"/>
                  </a:cubicBezTo>
                  <a:cubicBezTo>
                    <a:pt x="623316" y="483743"/>
                    <a:pt x="483743" y="623316"/>
                    <a:pt x="311658" y="623316"/>
                  </a:cubicBezTo>
                  <a:cubicBezTo>
                    <a:pt x="139573" y="623316"/>
                    <a:pt x="0" y="483743"/>
                    <a:pt x="0" y="311658"/>
                  </a:cubicBezTo>
                  <a:close/>
                </a:path>
              </a:pathLst>
            </a:custGeom>
            <a:solidFill>
              <a:srgbClr val="0B1220"/>
            </a:solidFill>
            <a:ln w="28575" cap="sq">
              <a:solidFill>
                <a:srgbClr val="FF6B6B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6733520" y="2784348"/>
            <a:ext cx="438912" cy="438912"/>
            <a:chOff x="0" y="0"/>
            <a:chExt cx="585216" cy="58521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5512796" y="2921508"/>
            <a:ext cx="987552" cy="987552"/>
            <a:chOff x="0" y="0"/>
            <a:chExt cx="1316736" cy="131673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5631306" y="3040018"/>
            <a:ext cx="750541" cy="750541"/>
            <a:chOff x="0" y="0"/>
            <a:chExt cx="1000722" cy="1000722"/>
          </a:xfrm>
        </p:grpSpPr>
        <p:sp>
          <p:nvSpPr>
            <p:cNvPr name="Freeform 78" id="78" descr="/home/claude/flood_ppt/icons/target.png"/>
            <p:cNvSpPr/>
            <p:nvPr/>
          </p:nvSpPr>
          <p:spPr>
            <a:xfrm flipH="false" flipV="false" rot="0">
              <a:off x="0" y="0"/>
              <a:ext cx="1000760" cy="1000760"/>
            </a:xfrm>
            <a:custGeom>
              <a:avLst/>
              <a:gdLst/>
              <a:ahLst/>
              <a:cxnLst/>
              <a:rect r="r" b="b" t="t" l="l"/>
              <a:pathLst>
                <a:path h="1000760" w="1000760">
                  <a:moveTo>
                    <a:pt x="0" y="0"/>
                  </a:moveTo>
                  <a:lnTo>
                    <a:pt x="1000760" y="0"/>
                  </a:lnTo>
                  <a:lnTo>
                    <a:pt x="100076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3" b="3"/>
              </a:stretch>
            </a:blip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4877288" y="4192143"/>
            <a:ext cx="225856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</a:pPr>
            <a:r>
              <a:rPr lang="en-US" sz="2574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Risk Prediction Output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983015" y="5411724"/>
            <a:ext cx="2203704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4"/>
              </a:lnSpc>
            </a:pPr>
            <a:r>
              <a:rPr lang="en-US" sz="2374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Outputs a Low / Medium / High flood-risk score.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822960" y="6995160"/>
            <a:ext cx="8229600" cy="681966"/>
            <a:chOff x="0" y="0"/>
            <a:chExt cx="10972800" cy="90928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72800" cy="909288"/>
            </a:xfrm>
            <a:custGeom>
              <a:avLst/>
              <a:gdLst/>
              <a:ahLst/>
              <a:cxnLst/>
              <a:rect r="r" b="b" t="t" l="l"/>
              <a:pathLst>
                <a:path h="909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09288"/>
                  </a:lnTo>
                  <a:lnTo>
                    <a:pt x="0" y="909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955" r="0" b="-16731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66675"/>
              <a:ext cx="10972800" cy="97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399" spc="283">
                  <a:solidFill>
                    <a:srgbClr val="93A6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OPTIONS AT STAGE 4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721459" y="7948422"/>
            <a:ext cx="7905905" cy="1756580"/>
            <a:chOff x="0" y="0"/>
            <a:chExt cx="10698480" cy="237705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698480" cy="2377051"/>
            </a:xfrm>
            <a:custGeom>
              <a:avLst/>
              <a:gdLst/>
              <a:ahLst/>
              <a:cxnLst/>
              <a:rect r="r" b="b" t="t" l="l"/>
              <a:pathLst>
                <a:path h="2377051" w="10698480">
                  <a:moveTo>
                    <a:pt x="0" y="250216"/>
                  </a:moveTo>
                  <a:cubicBezTo>
                    <a:pt x="0" y="112076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112076"/>
                    <a:pt x="10698480" y="250216"/>
                  </a:cubicBezTo>
                  <a:lnTo>
                    <a:pt x="10698480" y="2126835"/>
                  </a:lnTo>
                  <a:cubicBezTo>
                    <a:pt x="10698480" y="2264975"/>
                    <a:pt x="10616565" y="2377051"/>
                    <a:pt x="10515600" y="2377051"/>
                  </a:cubicBezTo>
                  <a:lnTo>
                    <a:pt x="182880" y="2377051"/>
                  </a:lnTo>
                  <a:cubicBezTo>
                    <a:pt x="81915" y="2377051"/>
                    <a:pt x="0" y="2264975"/>
                    <a:pt x="0" y="2126835"/>
                  </a:cubicBezTo>
                  <a:close/>
                </a:path>
              </a:pathLst>
            </a:custGeom>
            <a:solidFill>
              <a:srgbClr val="1C2A4A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28746" y="8080799"/>
            <a:ext cx="7420356" cy="1607508"/>
            <a:chOff x="0" y="0"/>
            <a:chExt cx="9893808" cy="214334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893808" cy="2143344"/>
            </a:xfrm>
            <a:custGeom>
              <a:avLst/>
              <a:gdLst/>
              <a:ahLst/>
              <a:cxnLst/>
              <a:rect r="r" b="b" t="t" l="l"/>
              <a:pathLst>
                <a:path h="2143344" w="9893808">
                  <a:moveTo>
                    <a:pt x="0" y="0"/>
                  </a:moveTo>
                  <a:lnTo>
                    <a:pt x="9893808" y="0"/>
                  </a:lnTo>
                  <a:lnTo>
                    <a:pt x="9893808" y="2143344"/>
                  </a:lnTo>
                  <a:lnTo>
                    <a:pt x="0" y="2143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14" r="0" b="-3047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04775"/>
              <a:ext cx="9893808" cy="2248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1"/>
                </a:lnSpc>
              </a:pPr>
              <a:r>
                <a:rPr lang="en-US" sz="2999" b="true">
                  <a:solidFill>
                    <a:srgbClr val="5FE6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XGBoost / Random Forest — </a:t>
              </a:r>
              <a:r>
                <a:rPr lang="en-US" sz="2999" b="true">
                  <a:solidFill>
                    <a:srgbClr val="E4EC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Best for tabular data — outputs a Low / Medium / High classification.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544050" y="7947660"/>
            <a:ext cx="8298180" cy="1697805"/>
            <a:chOff x="0" y="0"/>
            <a:chExt cx="10698480" cy="218890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698480" cy="2188906"/>
            </a:xfrm>
            <a:custGeom>
              <a:avLst/>
              <a:gdLst/>
              <a:ahLst/>
              <a:cxnLst/>
              <a:rect r="r" b="b" t="t" l="l"/>
              <a:pathLst>
                <a:path h="2188906" w="10698480">
                  <a:moveTo>
                    <a:pt x="0" y="230411"/>
                  </a:moveTo>
                  <a:cubicBezTo>
                    <a:pt x="0" y="103205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103205"/>
                    <a:pt x="10698480" y="230411"/>
                  </a:cubicBezTo>
                  <a:lnTo>
                    <a:pt x="10698480" y="1958495"/>
                  </a:lnTo>
                  <a:cubicBezTo>
                    <a:pt x="10698480" y="2085701"/>
                    <a:pt x="10616565" y="2188906"/>
                    <a:pt x="10515600" y="2188906"/>
                  </a:cubicBezTo>
                  <a:lnTo>
                    <a:pt x="182880" y="2188906"/>
                  </a:lnTo>
                  <a:cubicBezTo>
                    <a:pt x="81915" y="2188906"/>
                    <a:pt x="0" y="2085701"/>
                    <a:pt x="0" y="1958495"/>
                  </a:cubicBezTo>
                  <a:close/>
                </a:path>
              </a:pathLst>
            </a:custGeom>
            <a:solidFill>
              <a:srgbClr val="1C2A4A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845802" y="7947660"/>
            <a:ext cx="7420356" cy="1667759"/>
            <a:chOff x="0" y="0"/>
            <a:chExt cx="9893808" cy="222367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893808" cy="2223679"/>
            </a:xfrm>
            <a:custGeom>
              <a:avLst/>
              <a:gdLst/>
              <a:ahLst/>
              <a:cxnLst/>
              <a:rect r="r" b="b" t="t" l="l"/>
              <a:pathLst>
                <a:path h="2223679" w="9893808">
                  <a:moveTo>
                    <a:pt x="0" y="0"/>
                  </a:moveTo>
                  <a:lnTo>
                    <a:pt x="9893808" y="0"/>
                  </a:lnTo>
                  <a:lnTo>
                    <a:pt x="9893808" y="2223679"/>
                  </a:lnTo>
                  <a:lnTo>
                    <a:pt x="0" y="22236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29" r="0" b="-25759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04775"/>
              <a:ext cx="9893808" cy="2328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66"/>
                </a:lnSpc>
              </a:pPr>
              <a:r>
                <a:rPr lang="en-US" sz="3099" b="true">
                  <a:solidFill>
                    <a:srgbClr val="FFC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LSTM Networks — </a:t>
              </a:r>
              <a:r>
                <a:rPr lang="en-US" sz="3099" b="true">
                  <a:solidFill>
                    <a:srgbClr val="E4EC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Best for tracking multi-day weather trends — true time-series forecasting.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7007840" y="9765792"/>
            <a:ext cx="685800" cy="411480"/>
            <a:chOff x="0" y="0"/>
            <a:chExt cx="914400" cy="5486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4FD8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12814" y="-1729972"/>
            <a:ext cx="12344400" cy="5206597"/>
            <a:chOff x="0" y="0"/>
            <a:chExt cx="16459200" cy="69421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6942129"/>
            </a:xfrm>
            <a:custGeom>
              <a:avLst/>
              <a:gdLst/>
              <a:ahLst/>
              <a:cxnLst/>
              <a:rect r="r" b="b" t="t" l="l"/>
              <a:pathLst>
                <a:path h="6942129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942129"/>
                  </a:lnTo>
                  <a:lnTo>
                    <a:pt x="0" y="69421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35" r="0" b="452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459200" cy="6961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519"/>
                </a:lnSpc>
              </a:pPr>
              <a:r>
                <a:rPr lang="en-US" sz="70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Beyond Floods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65676" y="1436394"/>
            <a:ext cx="15087600" cy="797270"/>
            <a:chOff x="0" y="0"/>
            <a:chExt cx="20116800" cy="10630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063027"/>
            </a:xfrm>
            <a:custGeom>
              <a:avLst/>
              <a:gdLst/>
              <a:ahLst/>
              <a:cxnLst/>
              <a:rect r="r" b="b" t="t" l="l"/>
              <a:pathLst>
                <a:path h="1063027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63027"/>
                  </a:lnTo>
                  <a:lnTo>
                    <a:pt x="0" y="10630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4328" r="0" b="-3031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0116800" cy="1148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b="true" sz="3999" i="true">
                  <a:solidFill>
                    <a:srgbClr val="FFC857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The same pipeline can be extended to predict other hazards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5253228" cy="7228332"/>
            <a:chOff x="0" y="0"/>
            <a:chExt cx="7004304" cy="96377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4304" cy="9637776"/>
            </a:xfrm>
            <a:custGeom>
              <a:avLst/>
              <a:gdLst/>
              <a:ahLst/>
              <a:cxnLst/>
              <a:rect r="r" b="b" t="t" l="l"/>
              <a:pathLst>
                <a:path h="9637776" w="7004304">
                  <a:moveTo>
                    <a:pt x="0" y="272584"/>
                  </a:moveTo>
                  <a:cubicBezTo>
                    <a:pt x="0" y="122095"/>
                    <a:pt x="114681" y="0"/>
                    <a:pt x="256032" y="0"/>
                  </a:cubicBezTo>
                  <a:lnTo>
                    <a:pt x="6748272" y="0"/>
                  </a:lnTo>
                  <a:cubicBezTo>
                    <a:pt x="6889623" y="0"/>
                    <a:pt x="7004304" y="122095"/>
                    <a:pt x="7004304" y="272584"/>
                  </a:cubicBezTo>
                  <a:lnTo>
                    <a:pt x="7004304" y="9365193"/>
                  </a:lnTo>
                  <a:cubicBezTo>
                    <a:pt x="7004304" y="9515681"/>
                    <a:pt x="6889623" y="9637776"/>
                    <a:pt x="6748272" y="9637776"/>
                  </a:cubicBezTo>
                  <a:lnTo>
                    <a:pt x="256032" y="9637776"/>
                  </a:lnTo>
                  <a:cubicBezTo>
                    <a:pt x="114681" y="9637776"/>
                    <a:pt x="0" y="9515681"/>
                    <a:pt x="0" y="9365193"/>
                  </a:cubicBezTo>
                  <a:close/>
                </a:path>
              </a:pathLst>
            </a:custGeom>
            <a:solidFill>
              <a:srgbClr val="16213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61872" y="3017520"/>
            <a:ext cx="1028700" cy="1028700"/>
            <a:chOff x="0" y="0"/>
            <a:chExt cx="137160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4FD8E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85316" y="3140964"/>
            <a:ext cx="781812" cy="781812"/>
            <a:chOff x="0" y="0"/>
            <a:chExt cx="1042416" cy="1042416"/>
          </a:xfrm>
        </p:grpSpPr>
        <p:sp>
          <p:nvSpPr>
            <p:cNvPr name="Freeform 13" id="13" descr="/home/claude/flood_ppt/icons/hurricane.png"/>
            <p:cNvSpPr/>
            <p:nvPr/>
          </p:nvSpPr>
          <p:spPr>
            <a:xfrm flipH="false" flipV="false" rot="0">
              <a:off x="0" y="0"/>
              <a:ext cx="1042416" cy="1042416"/>
            </a:xfrm>
            <a:custGeom>
              <a:avLst/>
              <a:gdLst/>
              <a:ahLst/>
              <a:cxnLst/>
              <a:rect r="r" b="b" t="t" l="l"/>
              <a:pathLst>
                <a:path h="1042416" w="1042416">
                  <a:moveTo>
                    <a:pt x="0" y="0"/>
                  </a:moveTo>
                  <a:lnTo>
                    <a:pt x="1042416" y="0"/>
                  </a:lnTo>
                  <a:lnTo>
                    <a:pt x="1042416" y="1042416"/>
                  </a:lnTo>
                  <a:lnTo>
                    <a:pt x="0" y="1042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7831" y="2209185"/>
            <a:ext cx="4375404" cy="2415011"/>
            <a:chOff x="0" y="0"/>
            <a:chExt cx="5833872" cy="32200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33872" cy="3220015"/>
            </a:xfrm>
            <a:custGeom>
              <a:avLst/>
              <a:gdLst/>
              <a:ahLst/>
              <a:cxnLst/>
              <a:rect r="r" b="b" t="t" l="l"/>
              <a:pathLst>
                <a:path h="3220015" w="5833872">
                  <a:moveTo>
                    <a:pt x="0" y="0"/>
                  </a:moveTo>
                  <a:lnTo>
                    <a:pt x="5833872" y="0"/>
                  </a:lnTo>
                  <a:lnTo>
                    <a:pt x="5833872" y="3220015"/>
                  </a:lnTo>
                  <a:lnTo>
                    <a:pt x="0" y="32200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03" r="0" b="5049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5833872" cy="322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Storms &amp; Cyclones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15974" y="4214621"/>
            <a:ext cx="4192524" cy="1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99" b="true">
                <a:solidFill>
                  <a:srgbClr val="4FD8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Dataset: </a:t>
            </a:r>
            <a:r>
              <a:rPr lang="en-US" sz="3199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Tropical cyclones, severe weather, blizzards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5974" y="5934455"/>
            <a:ext cx="4192524" cy="1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99" b="true">
                <a:solidFill>
                  <a:srgbClr val="4FD8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Predicts: </a:t>
            </a:r>
            <a:r>
              <a:rPr lang="en-US" sz="3199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Storm damage from pressure drops &amp; high wind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8824" y="7785354"/>
            <a:ext cx="4192524" cy="1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99" b="true">
                <a:solidFill>
                  <a:srgbClr val="4FD8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works: </a:t>
            </a:r>
            <a:r>
              <a:rPr lang="en-US" sz="3199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Wind &amp; pressure track cleanly via weather APIs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556248" y="2537460"/>
            <a:ext cx="5253228" cy="7228332"/>
            <a:chOff x="0" y="0"/>
            <a:chExt cx="7004304" cy="96377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04304" cy="9637776"/>
            </a:xfrm>
            <a:custGeom>
              <a:avLst/>
              <a:gdLst/>
              <a:ahLst/>
              <a:cxnLst/>
              <a:rect r="r" b="b" t="t" l="l"/>
              <a:pathLst>
                <a:path h="9637776" w="7004304">
                  <a:moveTo>
                    <a:pt x="0" y="272584"/>
                  </a:moveTo>
                  <a:cubicBezTo>
                    <a:pt x="0" y="122095"/>
                    <a:pt x="114681" y="0"/>
                    <a:pt x="256032" y="0"/>
                  </a:cubicBezTo>
                  <a:lnTo>
                    <a:pt x="6748272" y="0"/>
                  </a:lnTo>
                  <a:cubicBezTo>
                    <a:pt x="6889623" y="0"/>
                    <a:pt x="7004304" y="122095"/>
                    <a:pt x="7004304" y="272584"/>
                  </a:cubicBezTo>
                  <a:lnTo>
                    <a:pt x="7004304" y="9365193"/>
                  </a:lnTo>
                  <a:cubicBezTo>
                    <a:pt x="7004304" y="9515681"/>
                    <a:pt x="6889623" y="9637776"/>
                    <a:pt x="6748272" y="9637776"/>
                  </a:cubicBezTo>
                  <a:lnTo>
                    <a:pt x="256032" y="9637776"/>
                  </a:lnTo>
                  <a:cubicBezTo>
                    <a:pt x="114681" y="9637776"/>
                    <a:pt x="0" y="9515681"/>
                    <a:pt x="0" y="9365193"/>
                  </a:cubicBezTo>
                  <a:close/>
                </a:path>
              </a:pathLst>
            </a:custGeom>
            <a:solidFill>
              <a:srgbClr val="1621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95160" y="3017520"/>
            <a:ext cx="1028700" cy="1028700"/>
            <a:chOff x="0" y="0"/>
            <a:chExt cx="137160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FFC85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118604" y="3140964"/>
            <a:ext cx="781812" cy="781812"/>
            <a:chOff x="0" y="0"/>
            <a:chExt cx="1042416" cy="1042416"/>
          </a:xfrm>
        </p:grpSpPr>
        <p:sp>
          <p:nvSpPr>
            <p:cNvPr name="Freeform 25" id="25" descr="/home/claude/flood_ppt/icons/mountain.png"/>
            <p:cNvSpPr/>
            <p:nvPr/>
          </p:nvSpPr>
          <p:spPr>
            <a:xfrm flipH="false" flipV="false" rot="0">
              <a:off x="0" y="0"/>
              <a:ext cx="1042416" cy="1042416"/>
            </a:xfrm>
            <a:custGeom>
              <a:avLst/>
              <a:gdLst/>
              <a:ahLst/>
              <a:cxnLst/>
              <a:rect r="r" b="b" t="t" l="l"/>
              <a:pathLst>
                <a:path h="1042416" w="1042416">
                  <a:moveTo>
                    <a:pt x="0" y="0"/>
                  </a:moveTo>
                  <a:lnTo>
                    <a:pt x="1042416" y="0"/>
                  </a:lnTo>
                  <a:lnTo>
                    <a:pt x="1042416" y="1042416"/>
                  </a:lnTo>
                  <a:lnTo>
                    <a:pt x="0" y="1042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319135" y="2098115"/>
            <a:ext cx="4375404" cy="2637151"/>
            <a:chOff x="0" y="0"/>
            <a:chExt cx="5833872" cy="35162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33872" cy="3516202"/>
            </a:xfrm>
            <a:custGeom>
              <a:avLst/>
              <a:gdLst/>
              <a:ahLst/>
              <a:cxnLst/>
              <a:rect r="r" b="b" t="t" l="l"/>
              <a:pathLst>
                <a:path h="3516202" w="5833872">
                  <a:moveTo>
                    <a:pt x="0" y="0"/>
                  </a:moveTo>
                  <a:lnTo>
                    <a:pt x="5833872" y="0"/>
                  </a:lnTo>
                  <a:lnTo>
                    <a:pt x="5833872" y="3516202"/>
                  </a:lnTo>
                  <a:lnTo>
                    <a:pt x="0" y="35162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25" r="0" b="546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833872" cy="3525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Landslides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047738" y="4494276"/>
            <a:ext cx="4192524" cy="1165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99" b="true">
                <a:solidFill>
                  <a:srgbClr val="FFC85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Dataset: </a:t>
            </a:r>
            <a:r>
              <a:rPr lang="en-US" sz="3199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Landslides, mudslides, avalanches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47738" y="5866227"/>
            <a:ext cx="4192524" cy="1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99" b="true">
                <a:solidFill>
                  <a:srgbClr val="FFC85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Predicts: </a:t>
            </a:r>
            <a:r>
              <a:rPr lang="en-US" sz="3199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Slope failure from 48-hr rainfall buildup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95160" y="7609331"/>
            <a:ext cx="4192524" cy="1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99" b="true">
                <a:solidFill>
                  <a:srgbClr val="FFC85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works: </a:t>
            </a:r>
            <a:r>
              <a:rPr lang="en-US" sz="3199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Sustained rainfall is a strong, trackable trigger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289536" y="2537460"/>
            <a:ext cx="5253228" cy="7228332"/>
            <a:chOff x="0" y="0"/>
            <a:chExt cx="7004304" cy="96377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04304" cy="9637776"/>
            </a:xfrm>
            <a:custGeom>
              <a:avLst/>
              <a:gdLst/>
              <a:ahLst/>
              <a:cxnLst/>
              <a:rect r="r" b="b" t="t" l="l"/>
              <a:pathLst>
                <a:path h="9637776" w="7004304">
                  <a:moveTo>
                    <a:pt x="0" y="272584"/>
                  </a:moveTo>
                  <a:cubicBezTo>
                    <a:pt x="0" y="122095"/>
                    <a:pt x="114681" y="0"/>
                    <a:pt x="256032" y="0"/>
                  </a:cubicBezTo>
                  <a:lnTo>
                    <a:pt x="6748272" y="0"/>
                  </a:lnTo>
                  <a:cubicBezTo>
                    <a:pt x="6889623" y="0"/>
                    <a:pt x="7004304" y="122095"/>
                    <a:pt x="7004304" y="272584"/>
                  </a:cubicBezTo>
                  <a:lnTo>
                    <a:pt x="7004304" y="9365193"/>
                  </a:lnTo>
                  <a:cubicBezTo>
                    <a:pt x="7004304" y="9515681"/>
                    <a:pt x="6889623" y="9637776"/>
                    <a:pt x="6748272" y="9637776"/>
                  </a:cubicBezTo>
                  <a:lnTo>
                    <a:pt x="256032" y="9637776"/>
                  </a:lnTo>
                  <a:cubicBezTo>
                    <a:pt x="114681" y="9637776"/>
                    <a:pt x="0" y="9515681"/>
                    <a:pt x="0" y="9365193"/>
                  </a:cubicBezTo>
                  <a:close/>
                </a:path>
              </a:pathLst>
            </a:custGeom>
            <a:solidFill>
              <a:srgbClr val="16213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728448" y="3017520"/>
            <a:ext cx="1028700" cy="1028700"/>
            <a:chOff x="0" y="0"/>
            <a:chExt cx="1371600" cy="137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851892" y="3140964"/>
            <a:ext cx="781812" cy="781812"/>
            <a:chOff x="0" y="0"/>
            <a:chExt cx="1042416" cy="1042416"/>
          </a:xfrm>
        </p:grpSpPr>
        <p:sp>
          <p:nvSpPr>
            <p:cNvPr name="Freeform 37" id="37" descr="/home/claude/flood_ppt/icons/fire.png"/>
            <p:cNvSpPr/>
            <p:nvPr/>
          </p:nvSpPr>
          <p:spPr>
            <a:xfrm flipH="false" flipV="false" rot="0">
              <a:off x="0" y="0"/>
              <a:ext cx="1042416" cy="1042416"/>
            </a:xfrm>
            <a:custGeom>
              <a:avLst/>
              <a:gdLst/>
              <a:ahLst/>
              <a:cxnLst/>
              <a:rect r="r" b="b" t="t" l="l"/>
              <a:pathLst>
                <a:path h="1042416" w="1042416">
                  <a:moveTo>
                    <a:pt x="0" y="0"/>
                  </a:moveTo>
                  <a:lnTo>
                    <a:pt x="1042416" y="0"/>
                  </a:lnTo>
                  <a:lnTo>
                    <a:pt x="1042416" y="1042416"/>
                  </a:lnTo>
                  <a:lnTo>
                    <a:pt x="0" y="1042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176248" y="2233664"/>
            <a:ext cx="4375404" cy="2492233"/>
            <a:chOff x="0" y="0"/>
            <a:chExt cx="5833872" cy="332297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33872" cy="3322977"/>
            </a:xfrm>
            <a:custGeom>
              <a:avLst/>
              <a:gdLst/>
              <a:ahLst/>
              <a:cxnLst/>
              <a:rect r="r" b="b" t="t" l="l"/>
              <a:pathLst>
                <a:path h="3322977" w="5833872">
                  <a:moveTo>
                    <a:pt x="0" y="0"/>
                  </a:moveTo>
                  <a:lnTo>
                    <a:pt x="5833872" y="0"/>
                  </a:lnTo>
                  <a:lnTo>
                    <a:pt x="5833872" y="3322977"/>
                  </a:lnTo>
                  <a:lnTo>
                    <a:pt x="0" y="33229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49" r="0" b="5203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5833872" cy="3332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Wildfires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781026" y="4490846"/>
            <a:ext cx="4192524" cy="1165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99" b="true">
                <a:solidFill>
                  <a:srgbClr val="FF6B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Dataset: </a:t>
            </a:r>
            <a:r>
              <a:rPr lang="en-US" sz="3199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Forest &amp; land fires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781026" y="5798820"/>
            <a:ext cx="4192524" cy="1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99" b="true">
                <a:solidFill>
                  <a:srgbClr val="FF6B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Predicts: </a:t>
            </a:r>
            <a:r>
              <a:rPr lang="en-US" sz="3199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Fire risk score from temp, humidity &amp; wind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819888" y="7785354"/>
            <a:ext cx="4192524" cy="1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99" b="true">
                <a:solidFill>
                  <a:srgbClr val="FF6B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works: </a:t>
            </a:r>
            <a:r>
              <a:rPr lang="en-US" sz="3199" b="true">
                <a:solidFill>
                  <a:srgbClr val="E4EC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Just 3 live metrics build a clear risk score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7007840" y="9765792"/>
            <a:ext cx="685800" cy="411480"/>
            <a:chOff x="0" y="0"/>
            <a:chExt cx="91440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4FD8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DAHR0efFtDU</dc:identifier>
  <dcterms:modified xsi:type="dcterms:W3CDTF">2011-08-01T06:04:30Z</dcterms:modified>
  <cp:revision>1</cp:revision>
  <dc:title>Flood_Prediction_System (1).pptx</dc:title>
</cp:coreProperties>
</file>